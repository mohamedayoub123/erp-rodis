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14"/>
  </p:notesMasterIdLst>
  <p:sldIdLst>
    <p:sldId id="269" r:id="rId2"/>
    <p:sldId id="257" r:id="rId3"/>
    <p:sldId id="267" r:id="rId4"/>
    <p:sldId id="268" r:id="rId5"/>
    <p:sldId id="259" r:id="rId6"/>
    <p:sldId id="263" r:id="rId7"/>
    <p:sldId id="264" r:id="rId8"/>
    <p:sldId id="266" r:id="rId9"/>
    <p:sldId id="260" r:id="rId10"/>
    <p:sldId id="261" r:id="rId11"/>
    <p:sldId id="262" r:id="rId12"/>
    <p:sldId id="270" r:id="rId13"/>
  </p:sldIdLst>
  <p:sldSz cx="12192000" cy="6858000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2" autoAdjust="0"/>
    <p:restoredTop sz="94660"/>
  </p:normalViewPr>
  <p:slideViewPr>
    <p:cSldViewPr snapToGrid="0">
      <p:cViewPr varScale="1">
        <p:scale>
          <a:sx n="188" d="100"/>
          <a:sy n="188" d="100"/>
        </p:scale>
        <p:origin x="1094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youb\Desktop\kpi%20temp%20daret%20avec%20produc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cap="all" normalizeH="0" baseline="0"/>
              <a:t>% Temps d’arrêt et production réalisée</a:t>
            </a:r>
            <a:endParaRPr lang="en-US"/>
          </a:p>
        </c:rich>
      </c:tx>
      <c:layout>
        <c:manualLayout>
          <c:xMode val="edge"/>
          <c:yMode val="edge"/>
          <c:x val="0.30539166526000144"/>
          <c:y val="0.1387145447398785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935634245335456E-2"/>
          <c:y val="0.22830721654842653"/>
          <c:w val="0.74012414714955255"/>
          <c:h val="0.54391660819625265"/>
        </c:manualLayout>
      </c:layout>
      <c:lineChart>
        <c:grouping val="standard"/>
        <c:varyColors val="0"/>
        <c:ser>
          <c:idx val="0"/>
          <c:order val="0"/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'% Temps d’arrêt et production r'!$I$12:$I$36</c:f>
              <c:numCache>
                <c:formatCode>0%</c:formatCode>
                <c:ptCount val="25"/>
                <c:pt idx="0">
                  <c:v>0.27028795811518325</c:v>
                </c:pt>
                <c:pt idx="1">
                  <c:v>0.34924520603835169</c:v>
                </c:pt>
                <c:pt idx="2">
                  <c:v>0.38025525525525528</c:v>
                </c:pt>
                <c:pt idx="3">
                  <c:v>0.2333065164923572</c:v>
                </c:pt>
                <c:pt idx="4">
                  <c:v>0.27364185110663986</c:v>
                </c:pt>
                <c:pt idx="5">
                  <c:v>0.22601530311948204</c:v>
                </c:pt>
                <c:pt idx="6">
                  <c:v>0.14458560193587416</c:v>
                </c:pt>
                <c:pt idx="7">
                  <c:v>0.1225473321858864</c:v>
                </c:pt>
                <c:pt idx="8">
                  <c:v>0.10510887772194305</c:v>
                </c:pt>
                <c:pt idx="9">
                  <c:v>9.1001353179972932E-2</c:v>
                </c:pt>
                <c:pt idx="10">
                  <c:v>9.7744360902255634E-2</c:v>
                </c:pt>
                <c:pt idx="11">
                  <c:v>0.12478163214374845</c:v>
                </c:pt>
                <c:pt idx="12" formatCode="General">
                  <c:v>0</c:v>
                </c:pt>
                <c:pt idx="13">
                  <c:v>0.08</c:v>
                </c:pt>
                <c:pt idx="14">
                  <c:v>9.9701746910950143E-2</c:v>
                </c:pt>
                <c:pt idx="15">
                  <c:v>9.3045717965228592E-2</c:v>
                </c:pt>
                <c:pt idx="16">
                  <c:v>0.11979166666666667</c:v>
                </c:pt>
                <c:pt idx="17">
                  <c:v>0.10993843447669305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'% Temps d’arrêt et production r'!$I$11</c15:sqref>
                        </c15:formulaRef>
                      </c:ext>
                    </c:extLst>
                    <c:strCache>
                      <c:ptCount val="1"/>
                      <c:pt idx="0">
                        <c:v>% temp daret 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'% Temps d’arrêt et production r'!$F$12:$F$36</c15:sqref>
                        </c15:formulaRef>
                      </c:ext>
                    </c:extLst>
                    <c:strCache>
                      <c:ptCount val="25"/>
                      <c:pt idx="0">
                        <c:v>Jan</c:v>
                      </c:pt>
                      <c:pt idx="1">
                        <c:v>Feb</c:v>
                      </c:pt>
                      <c:pt idx="2">
                        <c:v>Mar</c:v>
                      </c:pt>
                      <c:pt idx="3">
                        <c:v>Apr</c:v>
                      </c:pt>
                      <c:pt idx="4">
                        <c:v>May</c:v>
                      </c:pt>
                      <c:pt idx="5">
                        <c:v>Jun</c:v>
                      </c:pt>
                      <c:pt idx="6">
                        <c:v>Jul</c:v>
                      </c:pt>
                      <c:pt idx="7">
                        <c:v>Aug</c:v>
                      </c:pt>
                      <c:pt idx="8">
                        <c:v>Sep</c:v>
                      </c:pt>
                      <c:pt idx="9">
                        <c:v>Oct</c:v>
                      </c:pt>
                      <c:pt idx="10">
                        <c:v>Nov</c:v>
                      </c:pt>
                      <c:pt idx="11">
                        <c:v>Dec</c:v>
                      </c:pt>
                      <c:pt idx="12">
                        <c:v>anne 2026</c:v>
                      </c:pt>
                      <c:pt idx="13">
                        <c:v>jan</c:v>
                      </c:pt>
                      <c:pt idx="14">
                        <c:v>Feb</c:v>
                      </c:pt>
                      <c:pt idx="15">
                        <c:v>Mar</c:v>
                      </c:pt>
                      <c:pt idx="16">
                        <c:v>Apr</c:v>
                      </c:pt>
                      <c:pt idx="17">
                        <c:v>May</c:v>
                      </c:pt>
                      <c:pt idx="18">
                        <c:v>Jun</c:v>
                      </c:pt>
                      <c:pt idx="19">
                        <c:v>Jul</c:v>
                      </c:pt>
                      <c:pt idx="20">
                        <c:v>Aug</c:v>
                      </c:pt>
                      <c:pt idx="21">
                        <c:v>Sep</c:v>
                      </c:pt>
                      <c:pt idx="22">
                        <c:v>Oct</c:v>
                      </c:pt>
                      <c:pt idx="23">
                        <c:v>Nov</c:v>
                      </c:pt>
                      <c:pt idx="24">
                        <c:v>Dec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8A17-4484-A38B-0E561E2CEEB1}"/>
            </c:ext>
          </c:extLst>
        </c:ser>
        <c:ser>
          <c:idx val="1"/>
          <c:order val="1"/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'% Temps d’arrêt et production r'!$L$12:$L$36</c:f>
              <c:numCache>
                <c:formatCode>0%</c:formatCode>
                <c:ptCount val="25"/>
                <c:pt idx="0">
                  <c:v>0.6296294375706537</c:v>
                </c:pt>
                <c:pt idx="1">
                  <c:v>0.62029403403322092</c:v>
                </c:pt>
                <c:pt idx="2">
                  <c:v>0.67801612064482575</c:v>
                </c:pt>
                <c:pt idx="3">
                  <c:v>0.78388216939826538</c:v>
                </c:pt>
                <c:pt idx="4">
                  <c:v>0.69752486566822913</c:v>
                </c:pt>
                <c:pt idx="5">
                  <c:v>0.74592811777537715</c:v>
                </c:pt>
                <c:pt idx="6">
                  <c:v>0.84015612514598315</c:v>
                </c:pt>
                <c:pt idx="7">
                  <c:v>0.76024323621227885</c:v>
                </c:pt>
                <c:pt idx="8">
                  <c:v>0.82290402358116066</c:v>
                </c:pt>
                <c:pt idx="9">
                  <c:v>0.86167189193940641</c:v>
                </c:pt>
                <c:pt idx="10">
                  <c:v>0.74649069054913975</c:v>
                </c:pt>
                <c:pt idx="11">
                  <c:v>0.84379033111181634</c:v>
                </c:pt>
                <c:pt idx="12" formatCode="General">
                  <c:v>0</c:v>
                </c:pt>
                <c:pt idx="13">
                  <c:v>0.99405711315114786</c:v>
                </c:pt>
                <c:pt idx="14">
                  <c:v>0.97312773485752568</c:v>
                </c:pt>
                <c:pt idx="15">
                  <c:v>0.94964129976086653</c:v>
                </c:pt>
                <c:pt idx="16">
                  <c:v>0.95768631924265002</c:v>
                </c:pt>
                <c:pt idx="17">
                  <c:v>0.90913266126254388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'% Temps d’arrêt et production r'!$L$11</c15:sqref>
                        </c15:formulaRef>
                      </c:ext>
                    </c:extLst>
                    <c:strCache>
                      <c:ptCount val="1"/>
                      <c:pt idx="0">
                        <c:v>%realiser programe /8h de travaille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'% Temps d’arrêt et production r'!$F$12:$F$36</c15:sqref>
                        </c15:formulaRef>
                      </c:ext>
                    </c:extLst>
                    <c:strCache>
                      <c:ptCount val="25"/>
                      <c:pt idx="0">
                        <c:v>Jan</c:v>
                      </c:pt>
                      <c:pt idx="1">
                        <c:v>Feb</c:v>
                      </c:pt>
                      <c:pt idx="2">
                        <c:v>Mar</c:v>
                      </c:pt>
                      <c:pt idx="3">
                        <c:v>Apr</c:v>
                      </c:pt>
                      <c:pt idx="4">
                        <c:v>May</c:v>
                      </c:pt>
                      <c:pt idx="5">
                        <c:v>Jun</c:v>
                      </c:pt>
                      <c:pt idx="6">
                        <c:v>Jul</c:v>
                      </c:pt>
                      <c:pt idx="7">
                        <c:v>Aug</c:v>
                      </c:pt>
                      <c:pt idx="8">
                        <c:v>Sep</c:v>
                      </c:pt>
                      <c:pt idx="9">
                        <c:v>Oct</c:v>
                      </c:pt>
                      <c:pt idx="10">
                        <c:v>Nov</c:v>
                      </c:pt>
                      <c:pt idx="11">
                        <c:v>Dec</c:v>
                      </c:pt>
                      <c:pt idx="12">
                        <c:v>anne 2026</c:v>
                      </c:pt>
                      <c:pt idx="13">
                        <c:v>jan</c:v>
                      </c:pt>
                      <c:pt idx="14">
                        <c:v>Feb</c:v>
                      </c:pt>
                      <c:pt idx="15">
                        <c:v>Mar</c:v>
                      </c:pt>
                      <c:pt idx="16">
                        <c:v>Apr</c:v>
                      </c:pt>
                      <c:pt idx="17">
                        <c:v>May</c:v>
                      </c:pt>
                      <c:pt idx="18">
                        <c:v>Jun</c:v>
                      </c:pt>
                      <c:pt idx="19">
                        <c:v>Jul</c:v>
                      </c:pt>
                      <c:pt idx="20">
                        <c:v>Aug</c:v>
                      </c:pt>
                      <c:pt idx="21">
                        <c:v>Sep</c:v>
                      </c:pt>
                      <c:pt idx="22">
                        <c:v>Oct</c:v>
                      </c:pt>
                      <c:pt idx="23">
                        <c:v>Nov</c:v>
                      </c:pt>
                      <c:pt idx="24">
                        <c:v>Dec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1-8A17-4484-A38B-0E561E2CEEB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64770127"/>
        <c:axId val="464761807"/>
      </c:lineChart>
      <c:catAx>
        <c:axId val="46477012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4761807"/>
        <c:crosses val="autoZero"/>
        <c:auto val="1"/>
        <c:lblAlgn val="ctr"/>
        <c:lblOffset val="100"/>
        <c:noMultiLvlLbl val="0"/>
      </c:catAx>
      <c:valAx>
        <c:axId val="464761807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47701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E2AF09-709C-420B-9215-B6A0A62D4A55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0A5CF-1210-49A6-B93C-8586EB404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27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B593CA-3C94-4491-BD99-FD67D8847FAF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8565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14D4-272F-4C9F-AC73-901F0F76F443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B2CD-779C-4CA8-B974-8D842901D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1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14D4-272F-4C9F-AC73-901F0F76F443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B2CD-779C-4CA8-B974-8D842901D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422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14D4-272F-4C9F-AC73-901F0F76F443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B2CD-779C-4CA8-B974-8D842901D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67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14D4-272F-4C9F-AC73-901F0F76F443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B2CD-779C-4CA8-B974-8D842901D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488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14D4-272F-4C9F-AC73-901F0F76F443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B2CD-779C-4CA8-B974-8D842901D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5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14D4-272F-4C9F-AC73-901F0F76F443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B2CD-779C-4CA8-B974-8D842901D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94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14D4-272F-4C9F-AC73-901F0F76F443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B2CD-779C-4CA8-B974-8D842901D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073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14D4-272F-4C9F-AC73-901F0F76F443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B2CD-779C-4CA8-B974-8D842901D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688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14D4-272F-4C9F-AC73-901F0F76F443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B2CD-779C-4CA8-B974-8D842901D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423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14D4-272F-4C9F-AC73-901F0F76F443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B2CD-779C-4CA8-B974-8D842901D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405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14D4-272F-4C9F-AC73-901F0F76F443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B2CD-779C-4CA8-B974-8D842901D94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1587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14D4-272F-4C9F-AC73-901F0F76F443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B2CD-779C-4CA8-B974-8D842901D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173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14D4-272F-4C9F-AC73-901F0F76F443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B2CD-779C-4CA8-B974-8D842901D94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9255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14D4-272F-4C9F-AC73-901F0F76F443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B2CD-779C-4CA8-B974-8D842901D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191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14D4-272F-4C9F-AC73-901F0F76F443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B2CD-779C-4CA8-B974-8D842901D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608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14D4-272F-4C9F-AC73-901F0F76F443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B2CD-779C-4CA8-B974-8D842901D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449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4214D4-272F-4C9F-AC73-901F0F76F443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607B2CD-779C-4CA8-B974-8D842901D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932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209800" y="2420889"/>
            <a:ext cx="7543800" cy="2078087"/>
          </a:xfrm>
          <a:noFill/>
        </p:spPr>
        <p:txBody>
          <a:bodyPr/>
          <a:lstStyle/>
          <a:p>
            <a:pPr algn="ctr"/>
            <a:r>
              <a:rPr lang="fr-FR" dirty="0"/>
              <a:t>Rapport de revue de processus PR4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935760" y="5589240"/>
            <a:ext cx="3960440" cy="360040"/>
          </a:xfrm>
          <a:noFill/>
        </p:spPr>
        <p:txBody>
          <a:bodyPr>
            <a:normAutofit fontScale="77500" lnSpcReduction="20000"/>
          </a:bodyPr>
          <a:lstStyle/>
          <a:p>
            <a:pPr algn="ctr"/>
            <a:r>
              <a:rPr lang="fr-FR" sz="2800" b="1" dirty="0"/>
              <a:t>2026 / T1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Code : CCSIQP-FO-031 Version : 1 Date 17/07/2023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28622-4AA7-436C-A2F6-BBB6BF5FBF23}" type="slidenum">
              <a:rPr lang="fr-FR" smtClean="0"/>
              <a:t>1</a:t>
            </a:fld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865" y="0"/>
            <a:ext cx="1712247" cy="1800000"/>
          </a:xfrm>
          <a:prstGeom prst="rect">
            <a:avLst/>
          </a:prstGeom>
        </p:spPr>
      </p:pic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33F5D9E7-DDB0-4228-B48E-7A9ECE5D9003}"/>
              </a:ext>
            </a:extLst>
          </p:cNvPr>
          <p:cNvSpPr txBox="1">
            <a:spLocks/>
          </p:cNvSpPr>
          <p:nvPr/>
        </p:nvSpPr>
        <p:spPr>
          <a:xfrm rot="16200000">
            <a:off x="9987280" y="3559057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Code : CCSIQP-FO-031 Version : 1 Date 17/07/2023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9639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78B5-0553-6A26-A2AB-17F3540C1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 de la présentation 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32B66-EEF3-CAA8-6809-AB8B4AD4D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862" y="2995710"/>
            <a:ext cx="10515600" cy="4351338"/>
          </a:xfrm>
        </p:spPr>
        <p:txBody>
          <a:bodyPr/>
          <a:lstStyle/>
          <a:p>
            <a:pPr marL="0" indent="0">
              <a:buNone/>
            </a:pPr>
            <a:br>
              <a:rPr lang="fr-FR" dirty="0"/>
            </a:br>
            <a:r>
              <a:rPr lang="fr-FR" dirty="0"/>
              <a:t>→ Revue du processus PR4</a:t>
            </a:r>
            <a:br>
              <a:rPr lang="fr-FR" dirty="0"/>
            </a:br>
            <a:r>
              <a:rPr lang="fr-FR" dirty="0"/>
              <a:t>→ Lié aux exigences ISO 9001, 14001, 22716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375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52AD7-82FF-A3BE-FEA1-1DB20AEDA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Organigrame</a:t>
            </a:r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95CBAC-CC7F-47FB-D2BD-28DB4D93C5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0514" y="2160588"/>
            <a:ext cx="7891009" cy="3881437"/>
          </a:xfrm>
        </p:spPr>
      </p:pic>
    </p:spTree>
    <p:extLst>
      <p:ext uri="{BB962C8B-B14F-4D97-AF65-F5344CB8AC3E}">
        <p14:creationId xmlns:p14="http://schemas.microsoft.com/office/powerpoint/2010/main" val="1367021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97AC0A-EB9A-4E37-B3E7-E77D6174D9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085" y="3224544"/>
            <a:ext cx="3085587" cy="3633455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BB0F9D-DA5D-41FF-997A-D5D08FC8E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097" y="62811"/>
            <a:ext cx="4377993" cy="30443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91AE0A-E7C4-4A21-A272-64673B4EEF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325" y="3510256"/>
            <a:ext cx="1409196" cy="32902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D547FE-84B7-4D69-B2F1-FC8BEF7DD1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1148" y="3551425"/>
            <a:ext cx="1391965" cy="32902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F522F0-F6F9-4D74-8B9E-168418740F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8997" y="3522703"/>
            <a:ext cx="1470628" cy="32778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EF9755D-8BED-4071-ACF5-5A82971AED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5509" y="3531925"/>
            <a:ext cx="1788728" cy="32686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FE526D3-530E-4CEE-A977-C996B16243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1270" y="3551425"/>
            <a:ext cx="1555430" cy="309639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971C09B-B9F9-43B1-BB0A-FE2D7443D8E1}"/>
              </a:ext>
            </a:extLst>
          </p:cNvPr>
          <p:cNvSpPr txBox="1"/>
          <p:nvPr/>
        </p:nvSpPr>
        <p:spPr>
          <a:xfrm>
            <a:off x="10501270" y="3193406"/>
            <a:ext cx="18614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Procedure </a:t>
            </a:r>
            <a:r>
              <a:rPr lang="en-US" sz="1200" dirty="0"/>
              <a:t>de </a:t>
            </a:r>
            <a:r>
              <a:rPr lang="en-US" sz="1200" dirty="0" err="1"/>
              <a:t>Pesage</a:t>
            </a:r>
            <a:r>
              <a:rPr lang="en-US" sz="1200" dirty="0"/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FBDADC-FEF0-4888-B015-50D3286F30A3}"/>
              </a:ext>
            </a:extLst>
          </p:cNvPr>
          <p:cNvSpPr txBox="1"/>
          <p:nvPr/>
        </p:nvSpPr>
        <p:spPr>
          <a:xfrm>
            <a:off x="8527588" y="3167374"/>
            <a:ext cx="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Procedure FAB PA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8A367D-200C-4F77-B9F9-457AD776B02A}"/>
              </a:ext>
            </a:extLst>
          </p:cNvPr>
          <p:cNvSpPr txBox="1"/>
          <p:nvPr/>
        </p:nvSpPr>
        <p:spPr>
          <a:xfrm>
            <a:off x="3402999" y="3167374"/>
            <a:ext cx="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Procedure FAB H P S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11BEB5-C9BD-469F-8C86-6C0DC0741F79}"/>
              </a:ext>
            </a:extLst>
          </p:cNvPr>
          <p:cNvSpPr txBox="1"/>
          <p:nvPr/>
        </p:nvSpPr>
        <p:spPr>
          <a:xfrm>
            <a:off x="5004970" y="3154927"/>
            <a:ext cx="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Procedure FAB GEL 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526125-592A-4752-B348-176C99B1FA60}"/>
              </a:ext>
            </a:extLst>
          </p:cNvPr>
          <p:cNvSpPr txBox="1"/>
          <p:nvPr/>
        </p:nvSpPr>
        <p:spPr>
          <a:xfrm>
            <a:off x="6691189" y="3143109"/>
            <a:ext cx="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Procedure FAB PM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61CBF0-0163-4218-9D30-DC2A915F34C5}"/>
              </a:ext>
            </a:extLst>
          </p:cNvPr>
          <p:cNvSpPr txBox="1"/>
          <p:nvPr/>
        </p:nvSpPr>
        <p:spPr>
          <a:xfrm>
            <a:off x="517479" y="3156140"/>
            <a:ext cx="24295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Procedure de </a:t>
            </a:r>
            <a:r>
              <a:rPr lang="en-US" sz="1400" dirty="0" err="1"/>
              <a:t>Conditionement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0152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40FE9-3986-7965-528F-CF5DA47BF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090" y="113775"/>
            <a:ext cx="10253053" cy="687952"/>
          </a:xfrm>
        </p:spPr>
        <p:txBody>
          <a:bodyPr>
            <a:normAutofit/>
          </a:bodyPr>
          <a:lstStyle/>
          <a:p>
            <a:r>
              <a:rPr lang="en-US" dirty="0" err="1"/>
              <a:t>Indicateur</a:t>
            </a:r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EB0039-9B52-4E51-A9E9-F4CBC971AAD4}"/>
              </a:ext>
            </a:extLst>
          </p:cNvPr>
          <p:cNvSpPr txBox="1"/>
          <p:nvPr/>
        </p:nvSpPr>
        <p:spPr>
          <a:xfrm>
            <a:off x="504586" y="5945878"/>
            <a:ext cx="60980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Indicateur</a:t>
            </a:r>
            <a:r>
              <a:rPr lang="en-US" dirty="0"/>
              <a:t> : 54.5% </a:t>
            </a:r>
            <a:r>
              <a:rPr lang="en-US" dirty="0" err="1"/>
              <a:t>d’indicateur</a:t>
            </a:r>
            <a:r>
              <a:rPr lang="en-US" dirty="0"/>
              <a:t> attaint </a:t>
            </a:r>
          </a:p>
          <a:p>
            <a:r>
              <a:rPr lang="en-US" dirty="0" err="1"/>
              <a:t>Kpi</a:t>
            </a:r>
            <a:r>
              <a:rPr lang="en-US" dirty="0"/>
              <a:t> ok : 6</a:t>
            </a:r>
          </a:p>
          <a:p>
            <a:r>
              <a:rPr lang="en-US" dirty="0" err="1"/>
              <a:t>Kpi</a:t>
            </a:r>
            <a:r>
              <a:rPr lang="en-US" dirty="0"/>
              <a:t> </a:t>
            </a:r>
            <a:r>
              <a:rPr lang="en-US" dirty="0" err="1"/>
              <a:t>totale</a:t>
            </a:r>
            <a:r>
              <a:rPr lang="en-US" dirty="0"/>
              <a:t> : 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2F2E2F-1127-69BF-9C32-E951538BD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73" y="763574"/>
            <a:ext cx="9062720" cy="459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512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2065C-8192-1D99-84CC-9A7C1B779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4829" y="0"/>
            <a:ext cx="1024233" cy="611045"/>
          </a:xfrm>
        </p:spPr>
        <p:txBody>
          <a:bodyPr>
            <a:normAutofit fontScale="90000"/>
          </a:bodyPr>
          <a:lstStyle/>
          <a:p>
            <a:r>
              <a:rPr lang="en-US" dirty="0"/>
              <a:t>KPI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3DB44D0-B779-4534-AFEE-935F492CDA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3557916"/>
              </p:ext>
            </p:extLst>
          </p:nvPr>
        </p:nvGraphicFramePr>
        <p:xfrm>
          <a:off x="140970" y="-419100"/>
          <a:ext cx="11910060" cy="769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4303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6C6453C-52A4-D3AB-ED79-E2BCDA6FD9D2}"/>
              </a:ext>
            </a:extLst>
          </p:cNvPr>
          <p:cNvSpPr txBox="1"/>
          <p:nvPr/>
        </p:nvSpPr>
        <p:spPr>
          <a:xfrm>
            <a:off x="3251859" y="-60895"/>
            <a:ext cx="36651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KPI – Analyse comparative du </a:t>
            </a:r>
          </a:p>
          <a:p>
            <a:r>
              <a:rPr lang="fr-FR" dirty="0"/>
              <a:t>coût du carton (multi-sources)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80375E-EDC1-81B8-E8E6-675DA96E9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955041"/>
            <a:ext cx="8605115" cy="474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534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1FA81-6CD9-F469-89B1-FC879A9D7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TAF et NC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B2B924-BCAC-BE2D-834A-7FBC5EAEF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8" y="1338225"/>
            <a:ext cx="9676384" cy="11843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341C20-A434-FFB3-2D7B-55BBB5263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42" y="4263866"/>
            <a:ext cx="8310935" cy="161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024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A7871-0B72-463F-487B-F46FBB30F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1580" y="139878"/>
            <a:ext cx="1746461" cy="588278"/>
          </a:xfrm>
        </p:spPr>
        <p:txBody>
          <a:bodyPr>
            <a:normAutofit fontScale="90000"/>
          </a:bodyPr>
          <a:lstStyle/>
          <a:p>
            <a:r>
              <a:rPr lang="en-US" dirty="0"/>
              <a:t>SWOT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786175-BCBD-67AC-4E3F-169B73E772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2286" y="1196086"/>
            <a:ext cx="8785714" cy="4738193"/>
          </a:xfrm>
        </p:spPr>
      </p:pic>
    </p:spTree>
    <p:extLst>
      <p:ext uri="{BB962C8B-B14F-4D97-AF65-F5344CB8AC3E}">
        <p14:creationId xmlns:p14="http://schemas.microsoft.com/office/powerpoint/2010/main" val="2101910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E65D319-9B7D-0275-4612-BA08E14AE0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552" y="1074746"/>
            <a:ext cx="8976430" cy="4274491"/>
          </a:xfrm>
        </p:spPr>
      </p:pic>
    </p:spTree>
    <p:extLst>
      <p:ext uri="{BB962C8B-B14F-4D97-AF65-F5344CB8AC3E}">
        <p14:creationId xmlns:p14="http://schemas.microsoft.com/office/powerpoint/2010/main" val="318979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FB2332-C329-1448-FDC1-401715402B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7194" y="1209088"/>
            <a:ext cx="9006578" cy="4206275"/>
          </a:xfrm>
        </p:spPr>
      </p:pic>
    </p:spTree>
    <p:extLst>
      <p:ext uri="{BB962C8B-B14F-4D97-AF65-F5344CB8AC3E}">
        <p14:creationId xmlns:p14="http://schemas.microsoft.com/office/powerpoint/2010/main" val="1612679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DEB48-7E98-4396-A924-2CDC03B18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28" y="1475872"/>
            <a:ext cx="3287955" cy="5271619"/>
          </a:xfrm>
        </p:spPr>
        <p:txBody>
          <a:bodyPr>
            <a:normAutofit/>
          </a:bodyPr>
          <a:lstStyle/>
          <a:p>
            <a:r>
              <a:rPr lang="fr-FR" sz="1800" dirty="0"/>
              <a:t>Merci de votre attention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Realise</a:t>
            </a:r>
            <a:r>
              <a:rPr lang="en-US" dirty="0"/>
              <a:t> par:</a:t>
            </a:r>
          </a:p>
          <a:p>
            <a:pPr marL="0" indent="0">
              <a:buNone/>
            </a:pPr>
            <a:r>
              <a:rPr lang="en-US" dirty="0"/>
              <a:t>     Ayoub Mohamed</a:t>
            </a:r>
          </a:p>
          <a:p>
            <a:endParaRPr lang="fr-FR" sz="1800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5BF8B7-56A7-488E-8CE9-5E241F97C64F}"/>
              </a:ext>
            </a:extLst>
          </p:cNvPr>
          <p:cNvSpPr txBox="1"/>
          <p:nvPr/>
        </p:nvSpPr>
        <p:spPr>
          <a:xfrm>
            <a:off x="353192" y="322369"/>
            <a:ext cx="2728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Fin de la presentation</a:t>
            </a:r>
          </a:p>
        </p:txBody>
      </p:sp>
    </p:spTree>
    <p:extLst>
      <p:ext uri="{BB962C8B-B14F-4D97-AF65-F5344CB8AC3E}">
        <p14:creationId xmlns:p14="http://schemas.microsoft.com/office/powerpoint/2010/main" val="37093363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77971</TotalTime>
  <Words>122</Words>
  <Application>Microsoft Office PowerPoint</Application>
  <PresentationFormat>Widescreen</PresentationFormat>
  <Paragraphs>38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Gothic</vt:lpstr>
      <vt:lpstr>Wingdings 3</vt:lpstr>
      <vt:lpstr>Facet</vt:lpstr>
      <vt:lpstr>Rapport de revue de processus PR4</vt:lpstr>
      <vt:lpstr>Objectif de la présentation :</vt:lpstr>
      <vt:lpstr>Organigrame </vt:lpstr>
      <vt:lpstr>PowerPoint Presentation</vt:lpstr>
      <vt:lpstr>Indicateur </vt:lpstr>
      <vt:lpstr>KPI</vt:lpstr>
      <vt:lpstr>PowerPoint Presentation</vt:lpstr>
      <vt:lpstr>TAF et NC </vt:lpstr>
      <vt:lpstr>SWOT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Revue du Processus de Fabrication Cosmétique(PR4)</dc:title>
  <dc:creator>mohamed ayoub</dc:creator>
  <cp:lastModifiedBy>mohamed ayoub</cp:lastModifiedBy>
  <cp:revision>70</cp:revision>
  <cp:lastPrinted>2025-05-08T11:39:00Z</cp:lastPrinted>
  <dcterms:created xsi:type="dcterms:W3CDTF">2025-04-07T14:36:54Z</dcterms:created>
  <dcterms:modified xsi:type="dcterms:W3CDTF">2026-07-17T14:29:25Z</dcterms:modified>
</cp:coreProperties>
</file>