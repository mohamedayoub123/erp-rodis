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5" r:id="rId1"/>
  </p:sldMasterIdLst>
  <p:notesMasterIdLst>
    <p:notesMasterId r:id="rId14"/>
  </p:notesMasterIdLst>
  <p:sldIdLst>
    <p:sldId id="269" r:id="rId2"/>
    <p:sldId id="257" r:id="rId3"/>
    <p:sldId id="267" r:id="rId4"/>
    <p:sldId id="268" r:id="rId5"/>
    <p:sldId id="259" r:id="rId6"/>
    <p:sldId id="263" r:id="rId7"/>
    <p:sldId id="264" r:id="rId8"/>
    <p:sldId id="260" r:id="rId10"/>
    <p:sldId id="261" r:id="rId11"/>
    <p:sldId id="262" r:id="rId12"/>
    <p:sldId id="270" r:id="rId13"/>
  </p:sldIdLst>
  <p:sldSz cx="12192000" cy="6858000"/>
  <p:notesSz cx="7102475" cy="938847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2" autoAdjust="0"/>
    <p:restoredTop sz="94660"/>
  </p:normalViewPr>
  <p:slideViewPr>
    <p:cSldViewPr snapToGrid="0">
      <p:cViewPr varScale="1">
        <p:scale>
          <a:sx n="188" d="100"/>
          <a:sy n="188" d="100"/>
        </p:scale>
        <p:origin x="1094" y="1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youb\Desktop\kpi%20temp%20daret%20avec%20production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1" i="0" u="none" strike="noStrike" kern="1200" cap="all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1600" b="1" i="0" u="none" strike="noStrike" cap="all" normalizeH="0" baseline="0"/>
              <a:t>% Temps d’arrêt et production réalisée</a:t>
            </a:r>
            <a:endParaRPr lang="en-US"/>
          </a:p>
        </c:rich>
      </c:tx>
      <c:layout>
        <c:manualLayout>
          <c:xMode val="edge"/>
          <c:yMode val="edge"/>
          <c:x val="0.30539166526000144"/>
          <c:y val="0.13871454473987854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1" i="0" u="none" strike="noStrike" kern="1200" cap="all" spc="120" normalizeH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4.935634245335456E-2"/>
          <c:y val="0.22830721654842653"/>
          <c:w val="0.74012414714955255"/>
          <c:h val="0.54391660819625265"/>
        </c:manualLayout>
      </c:layout>
      <c:lineChart>
        <c:grouping val="standard"/>
        <c:varyColors val="0"/>
        <c:ser>
          <c:idx val="0"/>
          <c:order val="0"/>
          <c:spPr>
            <a:ln w="22225" cap="rnd">
              <a:solidFill>
                <a:schemeClr val="accent1"/>
              </a:solidFill>
              <a:round/>
            </a:ln>
            <a:effectLst/>
          </c:spPr>
          <c:marker>
            <c:symbol val="diamond"/>
            <c:size val="6"/>
            <c:spPr>
              <a:solidFill>
                <a:schemeClr val="accent1"/>
              </a:solidFill>
              <a:ln w="9525">
                <a:solidFill>
                  <a:schemeClr val="accent1"/>
                </a:solidFill>
                <a:round/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1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val>
            <c:numRef>
              <c:f>'% Temps d’arrêt et production r'!$I$12:$I$36</c:f>
              <c:numCache>
                <c:formatCode>0%</c:formatCode>
                <c:ptCount val="25"/>
                <c:pt idx="0">
                  <c:v>0.27028795811518325</c:v>
                </c:pt>
                <c:pt idx="1">
                  <c:v>0.34924520603835169</c:v>
                </c:pt>
                <c:pt idx="2">
                  <c:v>0.38025525525525528</c:v>
                </c:pt>
                <c:pt idx="3">
                  <c:v>0.2333065164923572</c:v>
                </c:pt>
                <c:pt idx="4">
                  <c:v>0.27364185110663986</c:v>
                </c:pt>
                <c:pt idx="5">
                  <c:v>0.22601530311948204</c:v>
                </c:pt>
                <c:pt idx="6">
                  <c:v>0.14458560193587416</c:v>
                </c:pt>
                <c:pt idx="7">
                  <c:v>0.1225473321858864</c:v>
                </c:pt>
                <c:pt idx="8">
                  <c:v>0.10510887772194305</c:v>
                </c:pt>
                <c:pt idx="9">
                  <c:v>9.1001353179972932E-2</c:v>
                </c:pt>
                <c:pt idx="10">
                  <c:v>9.7744360902255634E-2</c:v>
                </c:pt>
                <c:pt idx="11">
                  <c:v>0.12478163214374845</c:v>
                </c:pt>
                <c:pt idx="12" formatCode="General">
                  <c:v>0</c:v>
                </c:pt>
                <c:pt idx="13">
                  <c:v>0.08</c:v>
                </c:pt>
                <c:pt idx="14">
                  <c:v>9.9701746910950143E-2</c:v>
                </c:pt>
                <c:pt idx="15">
                  <c:v>9.3045717965228592E-2</c:v>
                </c:pt>
                <c:pt idx="16">
                  <c:v>0.11979166666666667</c:v>
                </c:pt>
                <c:pt idx="17">
                  <c:v>0.10993843447669305</c:v>
                </c:pt>
              </c:numCache>
            </c:numRef>
          </c:val>
          <c:smooth val="0"/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'% Temps d’arrêt et production r'!$I$11</c15:sqref>
                        </c15:formulaRef>
                      </c:ext>
                    </c:extLst>
                    <c:strCache>
                      <c:ptCount val="1"/>
                      <c:pt idx="0">
                        <c:v>% temp daret 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strRef>
                    <c:extLst>
                      <c:ext uri="{02D57815-91ED-43cb-92C2-25804820EDAC}">
                        <c15:formulaRef>
                          <c15:sqref>'% Temps d’arrêt et production r'!$F$12:$F$36</c15:sqref>
                        </c15:formulaRef>
                      </c:ext>
                    </c:extLst>
                    <c:strCache>
                      <c:ptCount val="25"/>
                      <c:pt idx="0">
                        <c:v>Jan</c:v>
                      </c:pt>
                      <c:pt idx="1">
                        <c:v>Feb</c:v>
                      </c:pt>
                      <c:pt idx="2">
                        <c:v>Mar</c:v>
                      </c:pt>
                      <c:pt idx="3">
                        <c:v>Apr</c:v>
                      </c:pt>
                      <c:pt idx="4">
                        <c:v>May</c:v>
                      </c:pt>
                      <c:pt idx="5">
                        <c:v>Jun</c:v>
                      </c:pt>
                      <c:pt idx="6">
                        <c:v>Jul</c:v>
                      </c:pt>
                      <c:pt idx="7">
                        <c:v>Aug</c:v>
                      </c:pt>
                      <c:pt idx="8">
                        <c:v>Sep</c:v>
                      </c:pt>
                      <c:pt idx="9">
                        <c:v>Oct</c:v>
                      </c:pt>
                      <c:pt idx="10">
                        <c:v>Nov</c:v>
                      </c:pt>
                      <c:pt idx="11">
                        <c:v>Dec</c:v>
                      </c:pt>
                      <c:pt idx="12">
                        <c:v>anne 2026</c:v>
                      </c:pt>
                      <c:pt idx="13">
                        <c:v>jan</c:v>
                      </c:pt>
                      <c:pt idx="14">
                        <c:v>Feb</c:v>
                      </c:pt>
                      <c:pt idx="15">
                        <c:v>Mar</c:v>
                      </c:pt>
                      <c:pt idx="16">
                        <c:v>Apr</c:v>
                      </c:pt>
                      <c:pt idx="17">
                        <c:v>May</c:v>
                      </c:pt>
                      <c:pt idx="18">
                        <c:v>Jun</c:v>
                      </c:pt>
                      <c:pt idx="19">
                        <c:v>Jul</c:v>
                      </c:pt>
                      <c:pt idx="20">
                        <c:v>Aug</c:v>
                      </c:pt>
                      <c:pt idx="21">
                        <c:v>Sep</c:v>
                      </c:pt>
                      <c:pt idx="22">
                        <c:v>Oct</c:v>
                      </c:pt>
                      <c:pt idx="23">
                        <c:v>Nov</c:v>
                      </c:pt>
                      <c:pt idx="24">
                        <c:v>Dec</c:v>
                      </c:pt>
                    </c:strCache>
                  </c:strRef>
                </c15:cat>
              </c15:filteredCategoryTitle>
            </c:ext>
            <c:ext xmlns:c16="http://schemas.microsoft.com/office/drawing/2014/chart" uri="{C3380CC4-5D6E-409C-BE32-E72D297353CC}">
              <c16:uniqueId val="{00000000-8A17-4484-A38B-0E561E2CEEB1}"/>
            </c:ext>
          </c:extLst>
        </c:ser>
        <c:ser>
          <c:idx val="1"/>
          <c:order val="1"/>
          <c:spPr>
            <a:ln w="22225" cap="rnd">
              <a:solidFill>
                <a:schemeClr val="accent2"/>
              </a:solidFill>
              <a:round/>
            </a:ln>
            <a:effectLst/>
          </c:spPr>
          <c:marker>
            <c:symbol val="square"/>
            <c:size val="6"/>
            <c:spPr>
              <a:solidFill>
                <a:schemeClr val="accent2"/>
              </a:solidFill>
              <a:ln w="9525">
                <a:solidFill>
                  <a:schemeClr val="accent2"/>
                </a:solidFill>
                <a:round/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50" b="1" i="0" u="none" strike="noStrike" kern="1200" baseline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val>
            <c:numRef>
              <c:f>'% Temps d’arrêt et production r'!$L$12:$L$36</c:f>
              <c:numCache>
                <c:formatCode>0%</c:formatCode>
                <c:ptCount val="25"/>
                <c:pt idx="0">
                  <c:v>0.6296294375706537</c:v>
                </c:pt>
                <c:pt idx="1">
                  <c:v>0.62029403403322092</c:v>
                </c:pt>
                <c:pt idx="2">
                  <c:v>0.67801612064482575</c:v>
                </c:pt>
                <c:pt idx="3">
                  <c:v>0.78388216939826538</c:v>
                </c:pt>
                <c:pt idx="4">
                  <c:v>0.69752486566822913</c:v>
                </c:pt>
                <c:pt idx="5">
                  <c:v>0.74592811777537715</c:v>
                </c:pt>
                <c:pt idx="6">
                  <c:v>0.84015612514598315</c:v>
                </c:pt>
                <c:pt idx="7">
                  <c:v>0.76024323621227885</c:v>
                </c:pt>
                <c:pt idx="8">
                  <c:v>0.82290402358116066</c:v>
                </c:pt>
                <c:pt idx="9">
                  <c:v>0.86167189193940641</c:v>
                </c:pt>
                <c:pt idx="10">
                  <c:v>0.74649069054913975</c:v>
                </c:pt>
                <c:pt idx="11">
                  <c:v>0.84379033111181634</c:v>
                </c:pt>
                <c:pt idx="12" formatCode="General">
                  <c:v>0</c:v>
                </c:pt>
                <c:pt idx="13">
                  <c:v>0.99405711315114786</c:v>
                </c:pt>
                <c:pt idx="14">
                  <c:v>0.97312773485752568</c:v>
                </c:pt>
                <c:pt idx="15">
                  <c:v>0.94964129976086653</c:v>
                </c:pt>
                <c:pt idx="16">
                  <c:v>0.95768631924265002</c:v>
                </c:pt>
                <c:pt idx="17">
                  <c:v>0.90913266126254388</c:v>
                </c:pt>
              </c:numCache>
            </c:numRef>
          </c:val>
          <c:smooth val="0"/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'% Temps d’arrêt et production r'!$L$11</c15:sqref>
                        </c15:formulaRef>
                      </c:ext>
                    </c:extLst>
                    <c:strCache>
                      <c:ptCount val="1"/>
                      <c:pt idx="0">
                        <c:v>%realiser programe /8h de travaille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strRef>
                    <c:extLst>
                      <c:ext uri="{02D57815-91ED-43cb-92C2-25804820EDAC}">
                        <c15:formulaRef>
                          <c15:sqref>'% Temps d’arrêt et production r'!$F$12:$F$36</c15:sqref>
                        </c15:formulaRef>
                      </c:ext>
                    </c:extLst>
                    <c:strCache>
                      <c:ptCount val="25"/>
                      <c:pt idx="0">
                        <c:v>Jan</c:v>
                      </c:pt>
                      <c:pt idx="1">
                        <c:v>Feb</c:v>
                      </c:pt>
                      <c:pt idx="2">
                        <c:v>Mar</c:v>
                      </c:pt>
                      <c:pt idx="3">
                        <c:v>Apr</c:v>
                      </c:pt>
                      <c:pt idx="4">
                        <c:v>May</c:v>
                      </c:pt>
                      <c:pt idx="5">
                        <c:v>Jun</c:v>
                      </c:pt>
                      <c:pt idx="6">
                        <c:v>Jul</c:v>
                      </c:pt>
                      <c:pt idx="7">
                        <c:v>Aug</c:v>
                      </c:pt>
                      <c:pt idx="8">
                        <c:v>Sep</c:v>
                      </c:pt>
                      <c:pt idx="9">
                        <c:v>Oct</c:v>
                      </c:pt>
                      <c:pt idx="10">
                        <c:v>Nov</c:v>
                      </c:pt>
                      <c:pt idx="11">
                        <c:v>Dec</c:v>
                      </c:pt>
                      <c:pt idx="12">
                        <c:v>anne 2026</c:v>
                      </c:pt>
                      <c:pt idx="13">
                        <c:v>jan</c:v>
                      </c:pt>
                      <c:pt idx="14">
                        <c:v>Feb</c:v>
                      </c:pt>
                      <c:pt idx="15">
                        <c:v>Mar</c:v>
                      </c:pt>
                      <c:pt idx="16">
                        <c:v>Apr</c:v>
                      </c:pt>
                      <c:pt idx="17">
                        <c:v>May</c:v>
                      </c:pt>
                      <c:pt idx="18">
                        <c:v>Jun</c:v>
                      </c:pt>
                      <c:pt idx="19">
                        <c:v>Jul</c:v>
                      </c:pt>
                      <c:pt idx="20">
                        <c:v>Aug</c:v>
                      </c:pt>
                      <c:pt idx="21">
                        <c:v>Sep</c:v>
                      </c:pt>
                      <c:pt idx="22">
                        <c:v>Oct</c:v>
                      </c:pt>
                      <c:pt idx="23">
                        <c:v>Nov</c:v>
                      </c:pt>
                      <c:pt idx="24">
                        <c:v>Dec</c:v>
                      </c:pt>
                    </c:strCache>
                  </c:strRef>
                </c15:cat>
              </c15:filteredCategoryTitle>
            </c:ext>
            <c:ext xmlns:c16="http://schemas.microsoft.com/office/drawing/2014/chart" uri="{C3380CC4-5D6E-409C-BE32-E72D297353CC}">
              <c16:uniqueId val="{00000001-8A17-4484-A38B-0E561E2CEEB1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464770127"/>
        <c:axId val="464761807"/>
      </c:lineChart>
      <c:catAx>
        <c:axId val="464770127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cap="all" spc="1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64761807"/>
        <c:crosses val="autoZero"/>
        <c:auto val="1"/>
        <c:lblAlgn val="ctr"/>
        <c:lblOffset val="100"/>
        <c:noMultiLvlLbl val="0"/>
      </c:catAx>
      <c:valAx>
        <c:axId val="464761807"/>
        <c:scaling>
          <c:orientation val="minMax"/>
        </c:scaling>
        <c:delete val="0"/>
        <c:axPos val="l"/>
        <c:numFmt formatCode="0%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dk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6477012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39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800" kern="1200" cap="all" spc="120" normalizeH="0" baseline="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lt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50000"/>
        <a:lumOff val="50000"/>
      </a:schemeClr>
    </cs:fontRef>
    <cs:defRPr sz="900" b="0" i="0" u="none" strike="noStrike" kern="1200" baseline="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22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phClr"/>
        </a:solidFill>
        <a:round/>
      </a:ln>
    </cs:spPr>
  </cs:dataPointMarker>
  <cs:dataPointMarkerLayout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15000"/>
            <a:lumOff val="8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600" b="1" kern="1200" cap="all" spc="120" normalizeH="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8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dk1">
            <a:lumMod val="15000"/>
            <a:lumOff val="8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dk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2725" y="0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2E2AF09-709C-420B-9215-B6A0A62D4A55}" type="datetimeFigureOut">
              <a:rPr lang="en-US" smtClean="0"/>
              <a:t>09-Jul-26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1173163"/>
            <a:ext cx="5632450" cy="31686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613" y="4518025"/>
            <a:ext cx="5683250" cy="369728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918575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2725" y="8918575"/>
            <a:ext cx="3078163" cy="469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E0A5CF-1210-49A6-B93C-8586EB4043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270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FB593CA-3C94-4491-BD99-FD67D8847FAF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285656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214D4-272F-4C9F-AC73-901F0F76F443}" type="datetimeFigureOut">
              <a:rPr lang="en-US" smtClean="0"/>
              <a:t>09-Jul-26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7B2CD-779C-4CA8-B974-8D842901D9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7615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214D4-272F-4C9F-AC73-901F0F76F443}" type="datetimeFigureOut">
              <a:rPr lang="en-US" smtClean="0"/>
              <a:t>09-Jul-26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7B2CD-779C-4CA8-B974-8D842901D9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54225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214D4-272F-4C9F-AC73-901F0F76F443}" type="datetimeFigureOut">
              <a:rPr lang="en-US" smtClean="0"/>
              <a:t>09-Jul-26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7B2CD-779C-4CA8-B974-8D842901D9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3676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214D4-272F-4C9F-AC73-901F0F76F443}" type="datetimeFigureOut">
              <a:rPr lang="en-US" smtClean="0"/>
              <a:t>09-Jul-26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7B2CD-779C-4CA8-B974-8D842901D9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4880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214D4-272F-4C9F-AC73-901F0F76F443}" type="datetimeFigureOut">
              <a:rPr lang="en-US" smtClean="0"/>
              <a:t>09-Jul-26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7B2CD-779C-4CA8-B974-8D842901D9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0352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214D4-272F-4C9F-AC73-901F0F76F443}" type="datetimeFigureOut">
              <a:rPr lang="en-US" smtClean="0"/>
              <a:t>09-Jul-26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7B2CD-779C-4CA8-B974-8D842901D9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82948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214D4-272F-4C9F-AC73-901F0F76F443}" type="datetimeFigureOut">
              <a:rPr lang="en-US" smtClean="0"/>
              <a:t>09-Jul-26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7B2CD-779C-4CA8-B974-8D842901D9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90737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214D4-272F-4C9F-AC73-901F0F76F443}" type="datetimeFigureOut">
              <a:rPr lang="en-US" smtClean="0"/>
              <a:t>09-Jul-26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7B2CD-779C-4CA8-B974-8D842901D9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86885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214D4-272F-4C9F-AC73-901F0F76F443}" type="datetimeFigureOut">
              <a:rPr lang="en-US" smtClean="0"/>
              <a:t>09-Jul-26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7B2CD-779C-4CA8-B974-8D842901D9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64239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214D4-272F-4C9F-AC73-901F0F76F443}" type="datetimeFigureOut">
              <a:rPr lang="en-US" smtClean="0"/>
              <a:t>09-Jul-26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7B2CD-779C-4CA8-B974-8D842901D9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4055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214D4-272F-4C9F-AC73-901F0F76F443}" type="datetimeFigureOut">
              <a:rPr lang="en-US" smtClean="0"/>
              <a:t>09-Jul-26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7B2CD-779C-4CA8-B974-8D842901D94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87158700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214D4-272F-4C9F-AC73-901F0F76F443}" type="datetimeFigureOut">
              <a:rPr lang="en-US" smtClean="0"/>
              <a:t>09-Jul-26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7B2CD-779C-4CA8-B974-8D842901D9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17398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214D4-272F-4C9F-AC73-901F0F76F443}" type="datetimeFigureOut">
              <a:rPr lang="en-US" smtClean="0"/>
              <a:t>09-Jul-26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7B2CD-779C-4CA8-B974-8D842901D94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6992554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214D4-272F-4C9F-AC73-901F0F76F443}" type="datetimeFigureOut">
              <a:rPr lang="en-US" smtClean="0"/>
              <a:t>09-Jul-26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7B2CD-779C-4CA8-B974-8D842901D9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19195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214D4-272F-4C9F-AC73-901F0F76F443}" type="datetimeFigureOut">
              <a:rPr lang="en-US" smtClean="0"/>
              <a:t>09-Jul-26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7B2CD-779C-4CA8-B974-8D842901D9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06081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214D4-272F-4C9F-AC73-901F0F76F443}" type="datetimeFigureOut">
              <a:rPr lang="en-US" smtClean="0"/>
              <a:t>09-Jul-26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7B2CD-779C-4CA8-B974-8D842901D9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54494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4214D4-272F-4C9F-AC73-901F0F76F443}" type="datetimeFigureOut">
              <a:rPr lang="en-US" smtClean="0"/>
              <a:t>09-Jul-26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F607B2CD-779C-4CA8-B974-8D842901D9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9932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  <p:sldLayoutId id="2147483706" r:id="rId11"/>
    <p:sldLayoutId id="2147483707" r:id="rId12"/>
    <p:sldLayoutId id="2147483708" r:id="rId13"/>
    <p:sldLayoutId id="2147483709" r:id="rId14"/>
    <p:sldLayoutId id="2147483710" r:id="rId15"/>
    <p:sldLayoutId id="2147483711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2209800" y="2420889"/>
            <a:ext cx="7543800" cy="2078087"/>
          </a:xfrm>
          <a:noFill/>
        </p:spPr>
        <p:txBody>
          <a:bodyPr/>
          <a:lstStyle/>
          <a:p>
            <a:pPr algn="ctr"/>
            <a:r>
              <a:rPr lang="fr-FR" dirty="0"/>
              <a:t>Rapport de revue de processus PR4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3935760" y="5589240"/>
            <a:ext cx="3960440" cy="360040"/>
          </a:xfrm>
          <a:noFill/>
        </p:spPr>
        <p:txBody>
          <a:bodyPr>
            <a:normAutofit fontScale="77500" lnSpcReduction="20000"/>
          </a:bodyPr>
          <a:lstStyle/>
          <a:p>
            <a:pPr algn="ctr"/>
            <a:r>
              <a:rPr lang="fr-FR" sz="2800" b="1" dirty="0"/>
              <a:t>2026 / T1</a:t>
            </a:r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Code : CCSIQP-FO-031 Version : 1 Date 17/07/2023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728622-4AA7-436C-A2F6-BBB6BF5FBF23}" type="slidenum">
              <a:rPr lang="fr-FR" smtClean="0"/>
              <a:t>1</a:t>
            </a:fld>
            <a:endParaRPr lang="fr-FR"/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1865" y="0"/>
            <a:ext cx="1712247" cy="1800000"/>
          </a:xfrm>
          <a:prstGeom prst="rect">
            <a:avLst/>
          </a:prstGeom>
        </p:spPr>
      </p:pic>
      <p:sp>
        <p:nvSpPr>
          <p:cNvPr id="7" name="Espace réservé du pied de page 3">
            <a:extLst>
              <a:ext uri="{FF2B5EF4-FFF2-40B4-BE49-F238E27FC236}">
                <a16:creationId xmlns:a16="http://schemas.microsoft.com/office/drawing/2014/main" id="{33F5D9E7-DDB0-4228-B48E-7A9ECE5D9003}"/>
              </a:ext>
            </a:extLst>
          </p:cNvPr>
          <p:cNvSpPr txBox="1">
            <a:spLocks/>
          </p:cNvSpPr>
          <p:nvPr/>
        </p:nvSpPr>
        <p:spPr>
          <a:xfrm rot="16200000">
            <a:off x="9987280" y="3559057"/>
            <a:ext cx="2367281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/>
              <a:t>Code : CCSIQP-FO-031 Version : 1 Date 17/07/2023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196396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DA78B5-0553-6A26-A2AB-17F3540C1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Objectif de la présentation :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132B66-EEF3-CAA8-6809-AB8B4AD4D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862" y="2995710"/>
            <a:ext cx="10515600" cy="4351338"/>
          </a:xfrm>
        </p:spPr>
        <p:txBody>
          <a:bodyPr/>
          <a:lstStyle/>
          <a:p>
            <a:pPr marL="0" indent="0">
              <a:buNone/>
            </a:pPr>
            <a:br>
              <a:rPr lang="fr-FR" dirty="0"/>
            </a:br>
            <a:r>
              <a:rPr lang="fr-FR" dirty="0"/>
              <a:t>→ Revue du processus PR4</a:t>
            </a:r>
            <a:br>
              <a:rPr lang="fr-FR" dirty="0"/>
            </a:br>
            <a:r>
              <a:rPr lang="fr-FR" dirty="0"/>
              <a:t>→ Lié aux exigences ISO 9001, 14001, 22716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03751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352AD7-82FF-A3BE-FEA1-1DB20AEDA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Organigrame</a:t>
            </a:r>
            <a:r>
              <a:rPr lang="en-US" dirty="0"/>
              <a:t>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295CBAC-CC7F-47FB-D2BD-28DB4D93C5A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30514" y="2160588"/>
            <a:ext cx="7891009" cy="3881437"/>
          </a:xfrm>
        </p:spPr>
      </p:pic>
    </p:spTree>
    <p:extLst>
      <p:ext uri="{BB962C8B-B14F-4D97-AF65-F5344CB8AC3E}">
        <p14:creationId xmlns:p14="http://schemas.microsoft.com/office/powerpoint/2010/main" val="13670219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897AC0A-EB9A-4E37-B3E7-E77D6174D9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1085" y="3224544"/>
            <a:ext cx="3085587" cy="3633455"/>
          </a:xfr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0BB0F9D-DA5D-41FF-997A-D5D08FC8E5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5097" y="62811"/>
            <a:ext cx="4377993" cy="304438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091AE0A-E7C4-4A21-A272-64673B4EEF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7325" y="3510256"/>
            <a:ext cx="1409196" cy="329029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4D547FE-84B7-4D69-B2F1-FC8BEF7DD1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61148" y="3551425"/>
            <a:ext cx="1391965" cy="329029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4F522F0-F6F9-4D74-8B9E-168418740F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8997" y="3522703"/>
            <a:ext cx="1470628" cy="327785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EF9755D-8BED-4071-ACF5-5A82971AED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95509" y="3531925"/>
            <a:ext cx="1788728" cy="326862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FE526D3-530E-4CEE-A977-C996B16243C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01270" y="3551425"/>
            <a:ext cx="1555430" cy="309639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B971C09B-B9F9-43B1-BB0A-FE2D7443D8E1}"/>
              </a:ext>
            </a:extLst>
          </p:cNvPr>
          <p:cNvSpPr txBox="1"/>
          <p:nvPr/>
        </p:nvSpPr>
        <p:spPr>
          <a:xfrm>
            <a:off x="10501270" y="3193406"/>
            <a:ext cx="186140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Procedure </a:t>
            </a:r>
            <a:r>
              <a:rPr lang="en-US" sz="1200" dirty="0"/>
              <a:t>de </a:t>
            </a:r>
            <a:r>
              <a:rPr lang="en-US" sz="1200" dirty="0" err="1"/>
              <a:t>Pesage</a:t>
            </a:r>
            <a:r>
              <a:rPr lang="en-US" sz="1200" dirty="0"/>
              <a:t>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4FBDADC-FEF0-4888-B015-50D3286F30A3}"/>
              </a:ext>
            </a:extLst>
          </p:cNvPr>
          <p:cNvSpPr txBox="1"/>
          <p:nvPr/>
        </p:nvSpPr>
        <p:spPr>
          <a:xfrm>
            <a:off x="8527588" y="3167374"/>
            <a:ext cx="17043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Procedure FAB PA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58A367D-200C-4F77-B9F9-457AD776B02A}"/>
              </a:ext>
            </a:extLst>
          </p:cNvPr>
          <p:cNvSpPr txBox="1"/>
          <p:nvPr/>
        </p:nvSpPr>
        <p:spPr>
          <a:xfrm>
            <a:off x="3402999" y="3167374"/>
            <a:ext cx="17043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Procedure FAB H P S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511BEB5-C9BD-469F-8C86-6C0DC0741F79}"/>
              </a:ext>
            </a:extLst>
          </p:cNvPr>
          <p:cNvSpPr txBox="1"/>
          <p:nvPr/>
        </p:nvSpPr>
        <p:spPr>
          <a:xfrm>
            <a:off x="5004970" y="3154927"/>
            <a:ext cx="17043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Procedure FAB GEL D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C526125-592A-4752-B348-176C99B1FA60}"/>
              </a:ext>
            </a:extLst>
          </p:cNvPr>
          <p:cNvSpPr txBox="1"/>
          <p:nvPr/>
        </p:nvSpPr>
        <p:spPr>
          <a:xfrm>
            <a:off x="6691189" y="3143109"/>
            <a:ext cx="17043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Procedure FAB PM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761CBF0-0163-4218-9D30-DC2A915F34C5}"/>
              </a:ext>
            </a:extLst>
          </p:cNvPr>
          <p:cNvSpPr txBox="1"/>
          <p:nvPr/>
        </p:nvSpPr>
        <p:spPr>
          <a:xfrm>
            <a:off x="517479" y="3156140"/>
            <a:ext cx="242958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Procedure de </a:t>
            </a:r>
            <a:r>
              <a:rPr lang="en-US" sz="1400" dirty="0" err="1"/>
              <a:t>Conditionement</a:t>
            </a:r>
            <a:r>
              <a:rPr lang="en-US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601527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640FE9-3986-7965-528F-CF5DA47BF0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4090" y="113775"/>
            <a:ext cx="10253053" cy="687952"/>
          </a:xfrm>
        </p:spPr>
        <p:txBody>
          <a:bodyPr>
            <a:normAutofit/>
          </a:bodyPr>
          <a:lstStyle/>
          <a:p>
            <a:r>
              <a:rPr lang="en-US" dirty="0" err="1"/>
              <a:t>Indicateur</a:t>
            </a:r>
            <a:r>
              <a:rPr lang="en-US" dirty="0"/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EB0039-9B52-4E51-A9E9-F4CBC971AAD4}"/>
              </a:ext>
            </a:extLst>
          </p:cNvPr>
          <p:cNvSpPr txBox="1"/>
          <p:nvPr/>
        </p:nvSpPr>
        <p:spPr>
          <a:xfrm>
            <a:off x="504586" y="5945878"/>
            <a:ext cx="609803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Indicateur</a:t>
            </a:r>
            <a:r>
              <a:rPr lang="en-US" dirty="0"/>
              <a:t> : 54.5% </a:t>
            </a:r>
            <a:r>
              <a:rPr lang="en-US" dirty="0" err="1"/>
              <a:t>d’indicateur</a:t>
            </a:r>
            <a:r>
              <a:rPr lang="en-US" dirty="0"/>
              <a:t> attaint </a:t>
            </a:r>
          </a:p>
          <a:p>
            <a:r>
              <a:rPr lang="en-US" dirty="0" err="1"/>
              <a:t>Kpi</a:t>
            </a:r>
            <a:r>
              <a:rPr lang="en-US" dirty="0"/>
              <a:t> ok : 6</a:t>
            </a:r>
          </a:p>
          <a:p>
            <a:r>
              <a:rPr lang="en-US" dirty="0" err="1"/>
              <a:t>Kpi</a:t>
            </a:r>
            <a:r>
              <a:rPr lang="en-US" dirty="0"/>
              <a:t> </a:t>
            </a:r>
            <a:r>
              <a:rPr lang="en-US" dirty="0" err="1"/>
              <a:t>totale</a:t>
            </a:r>
            <a:r>
              <a:rPr lang="en-US" dirty="0"/>
              <a:t> : 11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A2F2E2F-1127-69BF-9C32-E951538BD1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273" y="763574"/>
            <a:ext cx="9062720" cy="4591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75124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92065C-8192-1D99-84CC-9A7C1B779F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44829" y="0"/>
            <a:ext cx="1024233" cy="611045"/>
          </a:xfrm>
        </p:spPr>
        <p:txBody>
          <a:bodyPr>
            <a:normAutofit fontScale="90000"/>
          </a:bodyPr>
          <a:lstStyle/>
          <a:p>
            <a:r>
              <a:rPr lang="en-US" dirty="0"/>
              <a:t>KPI</a:t>
            </a:r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C3DB44D0-B779-4534-AFEE-935F492CDA5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23557916"/>
              </p:ext>
            </p:extLst>
          </p:nvPr>
        </p:nvGraphicFramePr>
        <p:xfrm>
          <a:off x="140970" y="-419100"/>
          <a:ext cx="11910060" cy="7696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843034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56C6453C-52A4-D3AB-ED79-E2BCDA6FD9D2}"/>
              </a:ext>
            </a:extLst>
          </p:cNvPr>
          <p:cNvSpPr txBox="1"/>
          <p:nvPr/>
        </p:nvSpPr>
        <p:spPr>
          <a:xfrm>
            <a:off x="3251859" y="-60895"/>
            <a:ext cx="36651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/>
              <a:t>KPI – Analyse comparative du </a:t>
            </a:r>
          </a:p>
          <a:p>
            <a:r>
              <a:rPr lang="fr-FR" dirty="0"/>
              <a:t>coût du carton (multi-sources)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680375E-EDC1-81B8-E8E6-675DA96E9D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" y="955041"/>
            <a:ext cx="8605115" cy="4749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25343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8A7871-0B72-463F-487B-F46FBB30F6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41580" y="139878"/>
            <a:ext cx="1746461" cy="588278"/>
          </a:xfrm>
        </p:spPr>
        <p:txBody>
          <a:bodyPr>
            <a:normAutofit fontScale="90000"/>
          </a:bodyPr>
          <a:lstStyle/>
          <a:p>
            <a:r>
              <a:rPr lang="en-US" dirty="0"/>
              <a:t>SWOT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E786175-BCBD-67AC-4E3F-169B73E7720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2286" y="1196086"/>
            <a:ext cx="8785714" cy="4738193"/>
          </a:xfrm>
        </p:spPr>
      </p:pic>
    </p:spTree>
    <p:extLst>
      <p:ext uri="{BB962C8B-B14F-4D97-AF65-F5344CB8AC3E}">
        <p14:creationId xmlns:p14="http://schemas.microsoft.com/office/powerpoint/2010/main" val="21019103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1E65D319-9B7D-0275-4612-BA08E14AE0D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68552" y="1074746"/>
            <a:ext cx="8976430" cy="4274491"/>
          </a:xfrm>
        </p:spPr>
      </p:pic>
    </p:spTree>
    <p:extLst>
      <p:ext uri="{BB962C8B-B14F-4D97-AF65-F5344CB8AC3E}">
        <p14:creationId xmlns:p14="http://schemas.microsoft.com/office/powerpoint/2010/main" val="3189796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0FB2332-C329-1448-FDC1-401715402B0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17194" y="1209088"/>
            <a:ext cx="9006578" cy="4206275"/>
          </a:xfrm>
        </p:spPr>
      </p:pic>
    </p:spTree>
    <p:extLst>
      <p:ext uri="{BB962C8B-B14F-4D97-AF65-F5344CB8AC3E}">
        <p14:creationId xmlns:p14="http://schemas.microsoft.com/office/powerpoint/2010/main" val="16126790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4DEB48-7E98-4396-A924-2CDC03B18B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9328" y="1475872"/>
            <a:ext cx="3287955" cy="5271619"/>
          </a:xfrm>
        </p:spPr>
        <p:txBody>
          <a:bodyPr>
            <a:normAutofit/>
          </a:bodyPr>
          <a:lstStyle/>
          <a:p>
            <a:r>
              <a:rPr lang="fr-FR" sz="1800" dirty="0"/>
              <a:t>Merci de votre attention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Realise</a:t>
            </a:r>
            <a:r>
              <a:rPr lang="en-US" dirty="0"/>
              <a:t> par:</a:t>
            </a:r>
          </a:p>
          <a:p>
            <a:pPr marL="0" indent="0">
              <a:buNone/>
            </a:pPr>
            <a:r>
              <a:rPr lang="en-US" dirty="0"/>
              <a:t>     Ayoub Mohamed</a:t>
            </a:r>
          </a:p>
          <a:p>
            <a:endParaRPr lang="fr-FR" sz="1800" dirty="0"/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5BF8B7-56A7-488E-8CE9-5E241F97C64F}"/>
              </a:ext>
            </a:extLst>
          </p:cNvPr>
          <p:cNvSpPr txBox="1"/>
          <p:nvPr/>
        </p:nvSpPr>
        <p:spPr>
          <a:xfrm>
            <a:off x="353192" y="322369"/>
            <a:ext cx="27280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Fin de la presentation</a:t>
            </a:r>
          </a:p>
        </p:txBody>
      </p:sp>
    </p:spTree>
    <p:extLst>
      <p:ext uri="{BB962C8B-B14F-4D97-AF65-F5344CB8AC3E}">
        <p14:creationId xmlns:p14="http://schemas.microsoft.com/office/powerpoint/2010/main" val="3709336355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8C59B386-999D-4CB6-B907-9F3997C027C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77971</TotalTime>
  <Words>122</Words>
  <Application>Microsoft Office PowerPoint</Application>
  <PresentationFormat>Widescreen</PresentationFormat>
  <Paragraphs>38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Century Gothic</vt:lpstr>
      <vt:lpstr>Wingdings 3</vt:lpstr>
      <vt:lpstr>Facet</vt:lpstr>
      <vt:lpstr>Rapport de revue de processus PR4</vt:lpstr>
      <vt:lpstr>Objectif de la présentation :</vt:lpstr>
      <vt:lpstr>Organigrame </vt:lpstr>
      <vt:lpstr>PowerPoint Presentation</vt:lpstr>
      <vt:lpstr>Indicateur </vt:lpstr>
      <vt:lpstr>KPI</vt:lpstr>
      <vt:lpstr>PowerPoint Presentation</vt:lpstr>
      <vt:lpstr>SWOT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Revue du Processus de Fabrication Cosmétique(PR4)</dc:title>
  <dc:creator>mohamed ayoub</dc:creator>
  <cp:lastModifiedBy>mohamed ayoub</cp:lastModifiedBy>
  <cp:revision>70</cp:revision>
  <cp:lastPrinted>2025-05-08T11:39:00Z</cp:lastPrinted>
  <dcterms:created xsi:type="dcterms:W3CDTF">2025-04-07T14:36:54Z</dcterms:created>
  <dcterms:modified xsi:type="dcterms:W3CDTF">2026-07-17T14:29:25Z</dcterms:modified>
</cp:coreProperties>
</file>